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8" r:id="rId13"/>
    <p:sldId id="269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sh VS" userId="43e83e4b074d8f7c" providerId="LiveId" clId="{634118E8-76C5-4A74-927B-F9C275DB7B49}"/>
    <pc:docChg chg="custSel addSld delSld modSld">
      <pc:chgData name="Hitesh VS" userId="43e83e4b074d8f7c" providerId="LiveId" clId="{634118E8-76C5-4A74-927B-F9C275DB7B49}" dt="2026-08-27T16:03:06.643" v="267" actId="20577"/>
      <pc:docMkLst>
        <pc:docMk/>
      </pc:docMkLst>
      <pc:sldChg chg="addSp delSp modSp mod">
        <pc:chgData name="Hitesh VS" userId="43e83e4b074d8f7c" providerId="LiveId" clId="{634118E8-76C5-4A74-927B-F9C275DB7B49}" dt="2026-08-27T16:03:06.643" v="267" actId="20577"/>
        <pc:sldMkLst>
          <pc:docMk/>
          <pc:sldMk cId="2279614515" sldId="258"/>
        </pc:sldMkLst>
        <pc:spChg chg="mod">
          <ac:chgData name="Hitesh VS" userId="43e83e4b074d8f7c" providerId="LiveId" clId="{634118E8-76C5-4A74-927B-F9C275DB7B49}" dt="2026-08-27T16:03:06.643" v="267" actId="20577"/>
          <ac:spMkLst>
            <pc:docMk/>
            <pc:sldMk cId="2279614515" sldId="258"/>
            <ac:spMk id="3" creationId="{18C2A2E9-E387-0F1F-86F7-3FAACDC2780A}"/>
          </ac:spMkLst>
        </pc:spChg>
        <pc:spChg chg="add del mod">
          <ac:chgData name="Hitesh VS" userId="43e83e4b074d8f7c" providerId="LiveId" clId="{634118E8-76C5-4A74-927B-F9C275DB7B49}" dt="2026-08-27T04:36:44.225" v="139"/>
          <ac:spMkLst>
            <pc:docMk/>
            <pc:sldMk cId="2279614515" sldId="258"/>
            <ac:spMk id="4" creationId="{7DE6A853-E7A7-ED97-3028-ACD3DF295555}"/>
          </ac:spMkLst>
        </pc:spChg>
        <pc:spChg chg="add del mod">
          <ac:chgData name="Hitesh VS" userId="43e83e4b074d8f7c" providerId="LiveId" clId="{634118E8-76C5-4A74-927B-F9C275DB7B49}" dt="2026-08-27T04:40:17.245" v="152"/>
          <ac:spMkLst>
            <pc:docMk/>
            <pc:sldMk cId="2279614515" sldId="258"/>
            <ac:spMk id="5" creationId="{8FE74627-E69A-FE35-9902-10C270F9165D}"/>
          </ac:spMkLst>
        </pc:spChg>
        <pc:spChg chg="add del mod">
          <ac:chgData name="Hitesh VS" userId="43e83e4b074d8f7c" providerId="LiveId" clId="{634118E8-76C5-4A74-927B-F9C275DB7B49}" dt="2026-08-27T04:42:58.593" v="217"/>
          <ac:spMkLst>
            <pc:docMk/>
            <pc:sldMk cId="2279614515" sldId="258"/>
            <ac:spMk id="6" creationId="{81EB1896-47F7-60B9-FE6D-447BAB9E9B92}"/>
          </ac:spMkLst>
        </pc:spChg>
      </pc:sldChg>
      <pc:sldChg chg="modSp mod">
        <pc:chgData name="Hitesh VS" userId="43e83e4b074d8f7c" providerId="LiveId" clId="{634118E8-76C5-4A74-927B-F9C275DB7B49}" dt="2026-08-27T04:28:39.741" v="57" actId="20577"/>
        <pc:sldMkLst>
          <pc:docMk/>
          <pc:sldMk cId="644030403" sldId="261"/>
        </pc:sldMkLst>
        <pc:spChg chg="mod">
          <ac:chgData name="Hitesh VS" userId="43e83e4b074d8f7c" providerId="LiveId" clId="{634118E8-76C5-4A74-927B-F9C275DB7B49}" dt="2026-08-27T04:28:39.741" v="57" actId="20577"/>
          <ac:spMkLst>
            <pc:docMk/>
            <pc:sldMk cId="644030403" sldId="261"/>
            <ac:spMk id="5" creationId="{9B5BB579-51B8-4B9E-E8E9-4E72E9B8FF0E}"/>
          </ac:spMkLst>
        </pc:spChg>
      </pc:sldChg>
      <pc:sldChg chg="modSp mod">
        <pc:chgData name="Hitesh VS" userId="43e83e4b074d8f7c" providerId="LiveId" clId="{634118E8-76C5-4A74-927B-F9C275DB7B49}" dt="2026-08-25T18:54:49.685" v="50" actId="27636"/>
        <pc:sldMkLst>
          <pc:docMk/>
          <pc:sldMk cId="4013370947" sldId="264"/>
        </pc:sldMkLst>
        <pc:spChg chg="mod">
          <ac:chgData name="Hitesh VS" userId="43e83e4b074d8f7c" providerId="LiveId" clId="{634118E8-76C5-4A74-927B-F9C275DB7B49}" dt="2026-08-25T18:54:49.685" v="50" actId="27636"/>
          <ac:spMkLst>
            <pc:docMk/>
            <pc:sldMk cId="4013370947" sldId="264"/>
            <ac:spMk id="3" creationId="{713E1870-17F2-3DF3-BB02-ACFE3D6D10E8}"/>
          </ac:spMkLst>
        </pc:spChg>
      </pc:sldChg>
      <pc:sldChg chg="addSp delSp modSp mod">
        <pc:chgData name="Hitesh VS" userId="43e83e4b074d8f7c" providerId="LiveId" clId="{634118E8-76C5-4A74-927B-F9C275DB7B49}" dt="2026-08-25T18:48:30.931" v="39" actId="1076"/>
        <pc:sldMkLst>
          <pc:docMk/>
          <pc:sldMk cId="379672822" sldId="268"/>
        </pc:sldMkLst>
        <pc:spChg chg="add mod">
          <ac:chgData name="Hitesh VS" userId="43e83e4b074d8f7c" providerId="LiveId" clId="{634118E8-76C5-4A74-927B-F9C275DB7B49}" dt="2026-08-25T18:48:30.931" v="39" actId="1076"/>
          <ac:spMkLst>
            <pc:docMk/>
            <pc:sldMk cId="379672822" sldId="268"/>
            <ac:spMk id="8" creationId="{1FFEF2B4-8A3E-CAA0-E7EB-10F10E198A50}"/>
          </ac:spMkLst>
        </pc:spChg>
        <pc:picChg chg="add mod">
          <ac:chgData name="Hitesh VS" userId="43e83e4b074d8f7c" providerId="LiveId" clId="{634118E8-76C5-4A74-927B-F9C275DB7B49}" dt="2026-08-25T18:48:21.253" v="34" actId="1076"/>
          <ac:picMkLst>
            <pc:docMk/>
            <pc:sldMk cId="379672822" sldId="268"/>
            <ac:picMk id="3" creationId="{71D159D8-857C-1612-EB5F-5694F115D5A2}"/>
          </ac:picMkLst>
        </pc:picChg>
      </pc:sldChg>
      <pc:sldChg chg="addSp delSp modSp mod">
        <pc:chgData name="Hitesh VS" userId="43e83e4b074d8f7c" providerId="LiveId" clId="{634118E8-76C5-4A74-927B-F9C275DB7B49}" dt="2026-08-25T18:47:05.492" v="30"/>
        <pc:sldMkLst>
          <pc:docMk/>
          <pc:sldMk cId="2307402334" sldId="269"/>
        </pc:sldMkLst>
        <pc:spChg chg="add mod">
          <ac:chgData name="Hitesh VS" userId="43e83e4b074d8f7c" providerId="LiveId" clId="{634118E8-76C5-4A74-927B-F9C275DB7B49}" dt="2026-08-25T18:47:05.492" v="30"/>
          <ac:spMkLst>
            <pc:docMk/>
            <pc:sldMk cId="2307402334" sldId="269"/>
            <ac:spMk id="6" creationId="{8512C559-C20A-D34F-B82D-3262DF06B04A}"/>
          </ac:spMkLst>
        </pc:spChg>
        <pc:picChg chg="add mod">
          <ac:chgData name="Hitesh VS" userId="43e83e4b074d8f7c" providerId="LiveId" clId="{634118E8-76C5-4A74-927B-F9C275DB7B49}" dt="2026-08-25T18:45:50.291" v="7" actId="1076"/>
          <ac:picMkLst>
            <pc:docMk/>
            <pc:sldMk cId="2307402334" sldId="269"/>
            <ac:picMk id="4" creationId="{8524C895-0949-B225-A45D-A995C7E873A5}"/>
          </ac:picMkLst>
        </pc:picChg>
      </pc:sldChg>
      <pc:sldChg chg="addSp delSp modSp new del mod modClrScheme chgLayout">
        <pc:chgData name="Hitesh VS" userId="43e83e4b074d8f7c" providerId="LiveId" clId="{634118E8-76C5-4A74-927B-F9C275DB7B49}" dt="2026-08-27T04:36:50.858" v="140" actId="2696"/>
        <pc:sldMkLst>
          <pc:docMk/>
          <pc:sldMk cId="1196502004" sldId="271"/>
        </pc:sldMkLst>
        <pc:spChg chg="del">
          <ac:chgData name="Hitesh VS" userId="43e83e4b074d8f7c" providerId="LiveId" clId="{634118E8-76C5-4A74-927B-F9C275DB7B49}" dt="2026-08-27T04:35:28.007" v="59" actId="700"/>
          <ac:spMkLst>
            <pc:docMk/>
            <pc:sldMk cId="1196502004" sldId="271"/>
            <ac:spMk id="2" creationId="{FEF5DB46-9D91-6276-CA8D-3284C3AFBA02}"/>
          </ac:spMkLst>
        </pc:spChg>
        <pc:spChg chg="del">
          <ac:chgData name="Hitesh VS" userId="43e83e4b074d8f7c" providerId="LiveId" clId="{634118E8-76C5-4A74-927B-F9C275DB7B49}" dt="2026-08-27T04:35:28.007" v="59" actId="700"/>
          <ac:spMkLst>
            <pc:docMk/>
            <pc:sldMk cId="1196502004" sldId="271"/>
            <ac:spMk id="3" creationId="{A9DB14C7-C734-D76E-407E-1559A038E7AB}"/>
          </ac:spMkLst>
        </pc:spChg>
        <pc:spChg chg="add mod">
          <ac:chgData name="Hitesh VS" userId="43e83e4b074d8f7c" providerId="LiveId" clId="{634118E8-76C5-4A74-927B-F9C275DB7B49}" dt="2026-08-27T04:36:15.526" v="134" actId="20577"/>
          <ac:spMkLst>
            <pc:docMk/>
            <pc:sldMk cId="1196502004" sldId="271"/>
            <ac:spMk id="4" creationId="{2BB9D08D-14EA-F7FF-4DB1-18E512B170B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C94FC-8B81-4A05-AC3B-F37C36B793C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9FC20-0AEB-47CE-A3F6-0A94A162F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314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6781-590C-0E57-28D3-589381BE7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9182D-2437-5020-DD9A-B23FDF554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6783-030B-0E04-575E-BBEFADD6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58EFA-8F0D-B344-E2DF-A78855427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B257B-C7F3-0A62-60FB-BC5560E5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58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6F6C-C8C3-FB4A-0131-C4275AFF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F3BA-03A9-AC6D-15E1-DD273CCE1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A34D5-D4B9-3A7A-D140-B02733BB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B2D23-C971-2C83-B371-5C1E054C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99EC-023D-D469-18E7-7EE539B7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14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83B3-3C86-8E8D-40A8-0454C61C9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CA93A-18D0-1774-B112-F81001B68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9F7AD-68DB-84D3-C154-DACB0357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1ECDD-3A4A-B5F8-0BB9-33E28425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A9FB8-E3EB-D25C-C3DE-C8E8B44D1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92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5A60-2338-C8A6-3126-E9263BAA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ED2B-115B-F032-51EE-3FBDA48BC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DB03F-3CED-A618-DB1F-8C9033182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29823-B4F1-BB9B-FC5F-E4706CD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0E8F3-F7FA-25E6-B67C-3CF81549A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91F62-63B6-A095-D290-841BC124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9A61-B2A1-3FAB-4911-18168D81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32DB4-B99E-250A-98A3-15BC6B2F3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22D4C-033F-0EB5-AF73-B124E303D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DECD6-6CA3-F28A-CC10-4CE09E6E8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A6348-0EB2-1FA3-F4BE-BEA9AAA43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F8CE2-FC36-3D04-5C1F-15BF8739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80FBC-C7F4-76B4-CD53-43D47933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861FA-0F33-0BA0-508C-474457F5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7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751F-8C85-B8AE-8515-4F506937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300CA-9525-64A0-0DA7-69A4F623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70244-2481-870F-06AC-7686189C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ED680-3E6F-1C03-93FF-20ADDCAD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93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1B086-3E13-4D21-BC82-99612717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A6A3C-B010-FE33-5D71-581B4A34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D7F6C-D302-DF5E-315E-D767091A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17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9453-10AA-487B-1FF6-773FAB3D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B1C36-F38F-7E18-BB3D-9A0EED4C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E079F-75B1-7FE6-4287-28BB8861C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799D6-4B1D-4921-0D53-BD04690F5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EA592-593B-C2C2-F0EE-A3D3C2E6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4614A-3DC1-2FB6-A948-ABB78895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94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B9F9-9B22-9220-A9FE-41094E08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3F01B-1827-2A8A-4511-D6F7482D6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0EE3-97FD-35B7-0742-7827FFC38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A8483-E711-035B-7E5D-AF3C083D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224EF-9DD6-6C50-54D2-D116740E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A74B9-58DB-11EC-311E-4A1486B2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31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CEE35-0CE7-1CD9-FEB4-21B35D63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516A9-F0AC-3E81-D828-3F63F2B9A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93767-21BB-CE53-1923-B9A0C791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DB079-5556-E19C-564F-20A91ECC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04AB1-49D5-31F5-10A3-5351968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5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F95A9-8A20-5F25-1B15-11488A82B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6B15E-D916-19E8-14EB-F3391909A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B8A2D-02F4-DE85-831E-3683450D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3FD92-4D90-87AF-158E-83ADBE1D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BBA5A-7A23-81FD-577F-D5FCFEF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96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99C86-CE97-D6B9-1C44-57CFC083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EF14F-B0AF-09F4-6517-896BB244B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49C27-CD4F-D0C5-1973-540F202C5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1EB97-86F8-4114-AC2B-0DF97BCDEC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D902-36E2-280D-8730-FD6A5AA11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398B6-50E1-F317-52D1-F2D4DEB87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90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43D556-81BE-2A75-2C28-D0FAE4F9D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32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Cascade (Dual-Loop) Voltage-Current Control of a Buck Converter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69051D3-E18D-7FAA-644E-43B994AB63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			Hitesh V S 		25BEE1165</a:t>
            </a:r>
          </a:p>
          <a:p>
            <a:pPr algn="l"/>
            <a:r>
              <a:rPr lang="en-US" dirty="0"/>
              <a:t>			Vijay Varshan P 	25BEE1148</a:t>
            </a:r>
          </a:p>
          <a:p>
            <a:pPr algn="l"/>
            <a:r>
              <a:rPr lang="en-US" dirty="0"/>
              <a:t>                                             Adithya K S 		25BEE1101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23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263D-5E53-41CB-AAD9-3F197566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B796-A432-A5EC-B348-69835610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Literature Review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GAP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Block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 done (Simulation)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Reference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38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3A03-9672-0F90-1785-786D69A4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A2E9-E387-0F1F-86F7-3FAACDC27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specifically this one</a:t>
            </a:r>
          </a:p>
          <a:p>
            <a:r>
              <a:rPr lang="en-IN" dirty="0"/>
              <a:t>rapidly opening and closing </a:t>
            </a:r>
            <a:r>
              <a:rPr lang="en-US" dirty="0"/>
              <a:t>MOSFET</a:t>
            </a:r>
          </a:p>
          <a:p>
            <a:r>
              <a:rPr lang="en-US" dirty="0"/>
              <a:t>So it creates pulsating DC</a:t>
            </a:r>
          </a:p>
          <a:p>
            <a:r>
              <a:rPr lang="en-US" dirty="0"/>
              <a:t>Ripple current(charging)</a:t>
            </a:r>
          </a:p>
          <a:p>
            <a:r>
              <a:rPr lang="en-US" dirty="0"/>
              <a:t>Voltage and Current Control</a:t>
            </a:r>
          </a:p>
          <a:p>
            <a:pPr marL="285750" indent="-285750"/>
            <a:r>
              <a:rPr lang="en-US" dirty="0"/>
              <a:t>2 Loops</a:t>
            </a:r>
          </a:p>
          <a:p>
            <a:pPr marL="285750" indent="-285750"/>
            <a:r>
              <a:rPr lang="en-US" dirty="0"/>
              <a:t>Outer -&gt; Voltage Reference</a:t>
            </a:r>
          </a:p>
          <a:p>
            <a:pPr marL="285750" indent="-285750"/>
            <a:r>
              <a:rPr lang="en-US" dirty="0"/>
              <a:t>Inner -&gt; Current Reference</a:t>
            </a:r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61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9A66D1-C90A-C172-CF26-7A394422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" y="-952"/>
            <a:ext cx="10515600" cy="1325563"/>
          </a:xfrm>
        </p:spPr>
        <p:txBody>
          <a:bodyPr/>
          <a:lstStyle/>
          <a:p>
            <a:r>
              <a:rPr lang="en-US" dirty="0"/>
              <a:t>Literature Review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B67DB2-584B-0E98-2FC1-F79C21057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872022"/>
              </p:ext>
            </p:extLst>
          </p:nvPr>
        </p:nvGraphicFramePr>
        <p:xfrm>
          <a:off x="212598" y="1233488"/>
          <a:ext cx="11766804" cy="5125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2268">
                  <a:extLst>
                    <a:ext uri="{9D8B030D-6E8A-4147-A177-3AD203B41FA5}">
                      <a16:colId xmlns:a16="http://schemas.microsoft.com/office/drawing/2014/main" val="4168341176"/>
                    </a:ext>
                  </a:extLst>
                </a:gridCol>
                <a:gridCol w="3922268">
                  <a:extLst>
                    <a:ext uri="{9D8B030D-6E8A-4147-A177-3AD203B41FA5}">
                      <a16:colId xmlns:a16="http://schemas.microsoft.com/office/drawing/2014/main" val="4069058350"/>
                    </a:ext>
                  </a:extLst>
                </a:gridCol>
                <a:gridCol w="3922268">
                  <a:extLst>
                    <a:ext uri="{9D8B030D-6E8A-4147-A177-3AD203B41FA5}">
                      <a16:colId xmlns:a16="http://schemas.microsoft.com/office/drawing/2014/main" val="325650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 done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36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 current control method for bidirectional multiphase DC-DC boost-buck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 minimize the ripple current entering into the battery and also make the voltage flow bidirectional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the help of a virtual resistor, transient oscillation is damped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395050"/>
                  </a:ext>
                </a:extLst>
              </a:tr>
              <a:tr h="31184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Boundary-Based PWM Control Scheme for a DC-DC Buck Converter Operating in CCM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Operating a Buck convertor in continuous conduction mode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Faster and accurate regulation of voltage and also it is robust for variations in parameters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50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Cascaded Voltage and Current Control for a Dual Active Bridge Converter with Current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Used Single phase shift modulation to reduce ripple current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Due to the use of SPS modulation, it provides settling time for half switching cycle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2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 Cascaded Synchronous Buck Converter for Light Electric Vehicle Charging Applications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synchronous buck converter is cascaded with a series capacitor synchronous buck converter, provides a high current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93.3% charging efficiency was observed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43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58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9ACEB9-0C60-800D-6834-940F2E162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35193"/>
              </p:ext>
            </p:extLst>
          </p:nvPr>
        </p:nvGraphicFramePr>
        <p:xfrm>
          <a:off x="184404" y="30149"/>
          <a:ext cx="11823192" cy="6797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1064">
                  <a:extLst>
                    <a:ext uri="{9D8B030D-6E8A-4147-A177-3AD203B41FA5}">
                      <a16:colId xmlns:a16="http://schemas.microsoft.com/office/drawing/2014/main" val="734428656"/>
                    </a:ext>
                  </a:extLst>
                </a:gridCol>
                <a:gridCol w="3941064">
                  <a:extLst>
                    <a:ext uri="{9D8B030D-6E8A-4147-A177-3AD203B41FA5}">
                      <a16:colId xmlns:a16="http://schemas.microsoft.com/office/drawing/2014/main" val="2249266952"/>
                    </a:ext>
                  </a:extLst>
                </a:gridCol>
                <a:gridCol w="3941064">
                  <a:extLst>
                    <a:ext uri="{9D8B030D-6E8A-4147-A177-3AD203B41FA5}">
                      <a16:colId xmlns:a16="http://schemas.microsoft.com/office/drawing/2014/main" val="3339878520"/>
                    </a:ext>
                  </a:extLst>
                </a:gridCol>
              </a:tblGrid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Design and Analysis of Feedback Control for DC-DC 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K-Factor method controller is  designed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output voltage is stable compared to a normal buck convertor and also reaches steady state faster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912037"/>
                  </a:ext>
                </a:extLst>
              </a:tr>
              <a:tr h="116967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Two Independent Single-Loop Voltage Mode Control Method for 3-Level 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Used Single loop voltage mode control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Reduced the output inductor current ripple compared to normal buck converters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756289"/>
                  </a:ext>
                </a:extLst>
              </a:tr>
              <a:tr h="170953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Simplified cascade multiphase DC-DC buck power converter for low voltage large current applications: part II --- output current controller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Impressed current method (single phase AC to direct current)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Robustness of current controller under various disturbances are verified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365883"/>
                  </a:ext>
                </a:extLst>
              </a:tr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Robust Voltage Control of a Buck DC-DC Converter: A Sliding Mode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Sliding mode control approach , nonlinear control algorithm is adopted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 dynamic response and robust characteristics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062384"/>
                  </a:ext>
                </a:extLst>
              </a:tr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Dual-Loop Voltage–Current Control of a Fractional-Order Buck-Boost Converter Using a Fractional-Order </a:t>
                      </a:r>
                      <a:r>
                        <a:rPr lang="en-IN" dirty="0" err="1"/>
                        <a:t>PIλ</a:t>
                      </a:r>
                      <a:r>
                        <a:rPr lang="en-IN" dirty="0"/>
                        <a:t>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 the controller performance of the system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Better performance of the system after optimization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420031"/>
                  </a:ext>
                </a:extLst>
              </a:tr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Control of a DC-DC Buck Converter through Contraction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 asymptotically globally stable controller for switched systems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Controller is globally stable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960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46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E551-3187-5AEF-EB17-98C2D4F7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Analysis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5BB579-51B8-4B9E-E8E9-4E72E9B8FF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600" dirty="0"/>
                  <a:t>6/10 papers are simulation only</a:t>
                </a:r>
              </a:p>
              <a:p>
                <a:endParaRPr lang="en-US" sz="2600" dirty="0"/>
              </a:p>
              <a:p>
                <a:r>
                  <a:rPr lang="en-US" sz="2600" dirty="0"/>
                  <a:t>Remaining used only to test feedback</a:t>
                </a:r>
              </a:p>
              <a:p>
                <a:endParaRPr lang="en-US" sz="2600" dirty="0"/>
              </a:p>
              <a:p>
                <a:r>
                  <a:rPr lang="en-IN" sz="2600" dirty="0"/>
                  <a:t>In paper 3 , battery switches from CC to CV mode, it generated a </a:t>
                </a:r>
                <a14:m>
                  <m:oMath xmlns:m="http://schemas.openxmlformats.org/officeDocument/2006/math">
                    <m:r>
                      <a:rPr lang="en-IN" sz="26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600" i="0"/>
                      <m:t>A</m:t>
                    </m:r>
                  </m:oMath>
                </a14:m>
                <a:r>
                  <a:rPr lang="en-IN" sz="2600" b="1" dirty="0"/>
                  <a:t> </a:t>
                </a:r>
                <a:r>
                  <a:rPr lang="en-IN" sz="2600" dirty="0"/>
                  <a:t>current spike and voltage bounce, lack of seamless transfer </a:t>
                </a:r>
              </a:p>
              <a:p>
                <a:endParaRPr lang="en-IN" sz="2600" dirty="0"/>
              </a:p>
              <a:p>
                <a:r>
                  <a:rPr lang="en-IN" sz="2600" dirty="0"/>
                  <a:t>Used </a:t>
                </a:r>
                <a:r>
                  <a:rPr lang="en-IN" dirty="0"/>
                  <a:t>traditional discrete mode-switching technique(K</a:t>
                </a:r>
                <a:r>
                  <a:rPr lang="en-IN" sz="3200" dirty="0"/>
                  <a:t>p,Ki</a:t>
                </a:r>
                <a:r>
                  <a:rPr lang="en-IN" dirty="0"/>
                  <a:t>)</a:t>
                </a:r>
                <a:endParaRPr lang="en-IN" sz="26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5BB579-51B8-4B9E-E8E9-4E72E9B8FF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030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1F9F29-B7DA-86EE-F6BB-ACCE922F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27C66-3AAC-DBAE-3D0B-60725F2ABE53}"/>
              </a:ext>
            </a:extLst>
          </p:cNvPr>
          <p:cNvSpPr txBox="1"/>
          <p:nvPr/>
        </p:nvSpPr>
        <p:spPr>
          <a:xfrm>
            <a:off x="838200" y="1783080"/>
            <a:ext cx="3143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1) Detection of fluctuation: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5331BC-8CD9-D9CA-F221-685E2BD05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97900"/>
            <a:ext cx="10305288" cy="25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5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95DAF0-DACD-5C80-9AA6-587B3BECE63A}"/>
              </a:ext>
            </a:extLst>
          </p:cNvPr>
          <p:cNvSpPr txBox="1"/>
          <p:nvPr/>
        </p:nvSpPr>
        <p:spPr>
          <a:xfrm>
            <a:off x="783336" y="502920"/>
            <a:ext cx="2216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2) Softening Logic: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0AEB2-29F1-D220-A9DD-63819CB4B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495" y="400110"/>
            <a:ext cx="3646769" cy="583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4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97E4DE-32B7-EA1E-BDB6-6487F6282936}"/>
              </a:ext>
            </a:extLst>
          </p:cNvPr>
          <p:cNvSpPr txBox="1"/>
          <p:nvPr/>
        </p:nvSpPr>
        <p:spPr>
          <a:xfrm>
            <a:off x="783336" y="502920"/>
            <a:ext cx="508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3) Dual Loop Buck Convertor Block Diagram: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4FC2D-1DF3-6216-98B6-5493E8366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67" b="46800"/>
          <a:stretch>
            <a:fillRect/>
          </a:stretch>
        </p:blipFill>
        <p:spPr>
          <a:xfrm>
            <a:off x="905810" y="1216152"/>
            <a:ext cx="10252364" cy="308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75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86CEA-00CD-FCCC-F89E-E6E8DCF4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53C8C-C469-EC69-3969-C78FD1529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smooth out the </a:t>
            </a:r>
            <a:r>
              <a:rPr lang="en-IN" dirty="0"/>
              <a:t>current spike and voltage bounce from CC to CV</a:t>
            </a:r>
          </a:p>
        </p:txBody>
      </p:sp>
    </p:spTree>
    <p:extLst>
      <p:ext uri="{BB962C8B-B14F-4D97-AF65-F5344CB8AC3E}">
        <p14:creationId xmlns:p14="http://schemas.microsoft.com/office/powerpoint/2010/main" val="74960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D20C-3FAA-E93F-33F9-E786085D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Done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1870-17F2-3DF3-BB02-ACFE3D6D10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1659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IN" sz="1800" dirty="0"/>
              </a:p>
              <a:p>
                <a:pPr lvl="0">
                  <a:buFont typeface="+mj-lt"/>
                  <a:buAutoNum type="arabicPeriod"/>
                </a:pPr>
                <a:r>
                  <a:rPr lang="en-IN" sz="1800" b="1" dirty="0"/>
                  <a:t>Constant Voltage (CV) Mode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𝑙𝑜𝑎𝑑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&lt;1.5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b="1" dirty="0"/>
                  <a:t>):</a:t>
                </a:r>
                <a:endParaRPr lang="en-IN" sz="1800" dirty="0"/>
              </a:p>
              <a:p>
                <a:pPr lvl="1"/>
                <a:r>
                  <a:rPr lang="en-IN" sz="1800" dirty="0"/>
                  <a:t>The outer voltage loop calculates how much current is needed: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&lt;1.5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dirty="0"/>
                  <a:t>The clamp does not activate: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</m:oMath>
                </a14:m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dirty="0"/>
                  <a:t>Output voltage is strictly regulated at </a:t>
                </a:r>
                <a14:m>
                  <m:oMath xmlns:m="http://schemas.openxmlformats.org/officeDocument/2006/math">
                    <m:r>
                      <a:rPr lang="en-IN" sz="1800">
                        <a:latin typeface="Cambria Math" panose="02040503050406030204" pitchFamily="18" charset="0"/>
                      </a:rPr>
                      <m:t>5.000</m:t>
                    </m:r>
                    <m:r>
                      <m:rPr>
                        <m:nor/>
                      </m:rPr>
                      <a:rPr lang="en-IN" sz="1800" i="0"/>
                      <m:t>V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lvl="0">
                  <a:buFont typeface="+mj-lt"/>
                  <a:buAutoNum type="arabicPeriod"/>
                </a:pPr>
                <a:r>
                  <a:rPr lang="en-IN" sz="1800" b="1" dirty="0"/>
                  <a:t>Constant Current (CC) Mode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𝑙𝑜𝑎𝑑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≥1.5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b="1" dirty="0"/>
                  <a:t> or Short Circuit):</a:t>
                </a:r>
                <a:endParaRPr lang="en-IN" sz="1800" dirty="0"/>
              </a:p>
              <a:p>
                <a:pPr lvl="1"/>
                <a:r>
                  <a:rPr lang="en-IN" sz="1800" dirty="0"/>
                  <a:t>Heavy load causes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IN" sz="1800" dirty="0"/>
                  <a:t> to dip, making the outer loop demand higher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&gt;1.5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dirty="0"/>
                  <a:t>).</a:t>
                </a:r>
              </a:p>
              <a:p>
                <a:pPr lvl="1"/>
                <a:r>
                  <a:rPr lang="en-IN" sz="1800" dirty="0"/>
                  <a:t>The soft clamp immediately caps the command 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=1.500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dirty="0"/>
                  <a:t>The inner loop smoothly forces the inductor current to hold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=1.500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dirty="0"/>
                  <a:t> constant.</a:t>
                </a:r>
              </a:p>
              <a:p>
                <a:pPr marL="457200" lvl="1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r>
                  <a:rPr lang="en-IN" sz="2600" i="1" dirty="0"/>
                  <a:t>"One point to note here is the small transient of approximately 0.05 V and 2 A in the terminal voltage and charging current respectively. This occurs as a result of the changeover action of the controller from the CC to CV mode. This transient was kept to a minimum by tuning of PI controller parameters."</a:t>
                </a:r>
                <a:endParaRPr lang="en-IN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1870-17F2-3DF3-BB02-ACFE3D6D1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1659"/>
                <a:ext cx="10515600" cy="4351338"/>
              </a:xfrm>
              <a:blipFill>
                <a:blip r:embed="rId2"/>
                <a:stretch>
                  <a:fillRect l="-928" r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370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159D8-857C-1612-EB5F-5694F115D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81" y="0"/>
            <a:ext cx="11115638" cy="5426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FEF2B4-8A3E-CAA0-E7EB-10F10E198A50}"/>
              </a:ext>
            </a:extLst>
          </p:cNvPr>
          <p:cNvSpPr txBox="1"/>
          <p:nvPr/>
        </p:nvSpPr>
        <p:spPr>
          <a:xfrm>
            <a:off x="1033272" y="5568696"/>
            <a:ext cx="9875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A Cascaded Synchronous Buck Converter for Light Electric Vehicle Charging Applications Mohammad Faisal Akhtar1, Siti Rohani Sheikh Raihan1, Nasrudin Abdul Rahim1, Mohd Khairil Rahmat2* </a:t>
            </a:r>
          </a:p>
        </p:txBody>
      </p:sp>
    </p:spTree>
    <p:extLst>
      <p:ext uri="{BB962C8B-B14F-4D97-AF65-F5344CB8AC3E}">
        <p14:creationId xmlns:p14="http://schemas.microsoft.com/office/powerpoint/2010/main" val="37967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24C895-0949-B225-A45D-A995C7E87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35" y="784010"/>
            <a:ext cx="10069330" cy="3991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12C559-C20A-D34F-B82D-3262DF06B04A}"/>
              </a:ext>
            </a:extLst>
          </p:cNvPr>
          <p:cNvSpPr txBox="1"/>
          <p:nvPr/>
        </p:nvSpPr>
        <p:spPr>
          <a:xfrm>
            <a:off x="1444752" y="5413248"/>
            <a:ext cx="9875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A Cascaded Synchronous Buck Converter for Light Electric Vehicle Charging Applications Mohammad Faisal Akhtar1, Siti Rohani Sheikh Raihan1, Nasrudin Abdul Rahim1, Mohd Khairil Rahmat2* </a:t>
            </a:r>
          </a:p>
        </p:txBody>
      </p:sp>
    </p:spTree>
    <p:extLst>
      <p:ext uri="{BB962C8B-B14F-4D97-AF65-F5344CB8AC3E}">
        <p14:creationId xmlns:p14="http://schemas.microsoft.com/office/powerpoint/2010/main" val="2307402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67BE-22D9-61EF-1BB6-5AFB393E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D0A25-2273-F91D-863F-1658AA6BAA7C}"/>
              </a:ext>
            </a:extLst>
          </p:cNvPr>
          <p:cNvSpPr txBox="1"/>
          <p:nvPr/>
        </p:nvSpPr>
        <p:spPr>
          <a:xfrm>
            <a:off x="726948" y="1161288"/>
            <a:ext cx="1073810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[1] </a:t>
            </a:r>
            <a:r>
              <a:rPr lang="en-IN" dirty="0"/>
              <a:t>N. </a:t>
            </a:r>
            <a:r>
              <a:rPr lang="en-IN" dirty="0" err="1"/>
              <a:t>Prameswari</a:t>
            </a:r>
            <a:r>
              <a:rPr lang="en-IN" dirty="0"/>
              <a:t>, A. B. Ganesen, F. K. </a:t>
            </a:r>
            <a:r>
              <a:rPr lang="en-IN" dirty="0" err="1"/>
              <a:t>Nuraziz</a:t>
            </a:r>
            <a:r>
              <a:rPr lang="en-IN" dirty="0"/>
              <a:t>, J. </a:t>
            </a:r>
            <a:r>
              <a:rPr lang="en-IN" dirty="0" err="1"/>
              <a:t>Furqani</a:t>
            </a:r>
            <a:r>
              <a:rPr lang="en-IN" dirty="0"/>
              <a:t>, A. </a:t>
            </a:r>
            <a:r>
              <a:rPr lang="en-IN" dirty="0" err="1"/>
              <a:t>Rizqiawan</a:t>
            </a:r>
            <a:r>
              <a:rPr lang="en-IN" dirty="0"/>
              <a:t>, and P. A. </a:t>
            </a:r>
            <a:r>
              <a:rPr lang="en-IN" dirty="0" err="1"/>
              <a:t>Dahono</a:t>
            </a:r>
            <a:r>
              <a:rPr lang="en-IN" dirty="0"/>
              <a:t>, "Simplified cascade multiphase DC-DC buck power converter for low voltage large current applications: part II --- output current controller," </a:t>
            </a:r>
            <a:r>
              <a:rPr lang="en-IN" i="1" dirty="0"/>
              <a:t>Int. J. Power Electron. Drive Syst. (IJPEDS)</a:t>
            </a:r>
            <a:r>
              <a:rPr lang="en-IN" dirty="0"/>
              <a:t>, vol. 12, no. 4, pp. 2273–2283, Dec. 2021, </a:t>
            </a:r>
            <a:r>
              <a:rPr lang="en-IN" dirty="0" err="1"/>
              <a:t>doi</a:t>
            </a:r>
            <a:r>
              <a:rPr lang="en-IN" dirty="0"/>
              <a:t>: 10.11591/ijpeds.v12.i4.pp2273-2283.</a:t>
            </a:r>
          </a:p>
          <a:p>
            <a:endParaRPr lang="en-IN" sz="1600" dirty="0"/>
          </a:p>
          <a:p>
            <a:r>
              <a:rPr lang="en-IN" sz="1600" dirty="0"/>
              <a:t>[2] </a:t>
            </a:r>
            <a:r>
              <a:rPr lang="en-IN" dirty="0"/>
              <a:t>G. I. Hasyim, S. </a:t>
            </a:r>
            <a:r>
              <a:rPr lang="en-IN" dirty="0" err="1"/>
              <a:t>Wijanarko</a:t>
            </a:r>
            <a:r>
              <a:rPr lang="en-IN" dirty="0"/>
              <a:t>, J. </a:t>
            </a:r>
            <a:r>
              <a:rPr lang="en-IN" dirty="0" err="1"/>
              <a:t>Furqani</a:t>
            </a:r>
            <a:r>
              <a:rPr lang="en-IN" dirty="0"/>
              <a:t>, A. </a:t>
            </a:r>
            <a:r>
              <a:rPr lang="en-IN" dirty="0" err="1"/>
              <a:t>Rizqiawan</a:t>
            </a:r>
            <a:r>
              <a:rPr lang="en-IN" dirty="0"/>
              <a:t>, and P. A. </a:t>
            </a:r>
            <a:r>
              <a:rPr lang="en-IN" dirty="0" err="1"/>
              <a:t>Dahono</a:t>
            </a:r>
            <a:r>
              <a:rPr lang="en-IN" dirty="0"/>
              <a:t>, "A current control method for bidirectional multiphase DC-DC boost-buck converter," </a:t>
            </a:r>
            <a:r>
              <a:rPr lang="en-IN" i="1" dirty="0"/>
              <a:t>Int. J. </a:t>
            </a:r>
            <a:r>
              <a:rPr lang="en-IN" i="1" dirty="0" err="1"/>
              <a:t>Electr</a:t>
            </a:r>
            <a:r>
              <a:rPr lang="en-IN" i="1" dirty="0"/>
              <a:t>. </a:t>
            </a:r>
            <a:r>
              <a:rPr lang="en-IN" i="1" dirty="0" err="1"/>
              <a:t>Comput</a:t>
            </a:r>
            <a:r>
              <a:rPr lang="en-IN" i="1" dirty="0"/>
              <a:t>. Eng. (IJECE)</a:t>
            </a:r>
            <a:r>
              <a:rPr lang="en-IN" dirty="0"/>
              <a:t>, vol. 12, no. 3, pp. 2363–2377, Jun. 2022, </a:t>
            </a:r>
            <a:r>
              <a:rPr lang="en-IN" dirty="0" err="1"/>
              <a:t>doi</a:t>
            </a:r>
            <a:r>
              <a:rPr lang="en-IN" dirty="0"/>
              <a:t>: 10.11591/ijece.v12i3.pp2363-2377.</a:t>
            </a:r>
          </a:p>
          <a:p>
            <a:endParaRPr lang="en-IN" sz="1600" dirty="0"/>
          </a:p>
          <a:p>
            <a:r>
              <a:rPr lang="en-IN" sz="1600" dirty="0"/>
              <a:t>[3] </a:t>
            </a:r>
            <a:r>
              <a:rPr lang="en-IN" dirty="0"/>
              <a:t>M. F. Akhtar, S. R. S. Raihan, N. A. Rahim, and M. K. Rahmat, "A Cascaded Synchronous Buck Converter for Light Electric Vehicle Charging Applications," </a:t>
            </a:r>
            <a:r>
              <a:rPr lang="en-IN" i="1" dirty="0"/>
              <a:t>Int. J. </a:t>
            </a:r>
            <a:r>
              <a:rPr lang="en-IN" i="1" dirty="0" err="1"/>
              <a:t>Integr</a:t>
            </a:r>
            <a:r>
              <a:rPr lang="en-IN" i="1" dirty="0"/>
              <a:t>. Eng. (IJIE)</a:t>
            </a:r>
            <a:r>
              <a:rPr lang="en-IN" dirty="0"/>
              <a:t>, vol. 16, no. 7, pp. 72–82, 2024, </a:t>
            </a:r>
            <a:r>
              <a:rPr lang="en-IN" dirty="0" err="1"/>
              <a:t>doi</a:t>
            </a:r>
            <a:r>
              <a:rPr lang="en-IN" dirty="0"/>
              <a:t>: 10.30880/ijie.2024.16.07.008.</a:t>
            </a:r>
          </a:p>
          <a:p>
            <a:endParaRPr lang="en-IN" sz="1600" dirty="0"/>
          </a:p>
          <a:p>
            <a:r>
              <a:rPr lang="en-IN" sz="1600" dirty="0"/>
              <a:t>[4] </a:t>
            </a:r>
            <a:r>
              <a:rPr lang="en-IN" dirty="0"/>
              <a:t>S. A. Tali, F. Ahmad, and I. H. Wani, "Design and Analysis of Feedback Control for DC-DC Buck Converter," in </a:t>
            </a:r>
            <a:r>
              <a:rPr lang="en-IN" i="1" dirty="0"/>
              <a:t>New Frontiers in Communication and Intelligent Systems</a:t>
            </a:r>
            <a:r>
              <a:rPr lang="en-IN" dirty="0"/>
              <a:t>, R. Srivastava and A. K. S. Pundir, Eds. India: Computing &amp; Intelligent Systems, SCRS, 2021, pp. 319–328, </a:t>
            </a:r>
            <a:r>
              <a:rPr lang="en-IN" dirty="0" err="1"/>
              <a:t>doi</a:t>
            </a:r>
            <a:r>
              <a:rPr lang="en-IN" dirty="0"/>
              <a:t>: 10.52458/978-81-95502-00-4-33.</a:t>
            </a:r>
          </a:p>
          <a:p>
            <a:endParaRPr lang="en-IN" sz="1600" dirty="0"/>
          </a:p>
          <a:p>
            <a:r>
              <a:rPr lang="en-IN" sz="1600" dirty="0"/>
              <a:t>[5] </a:t>
            </a:r>
            <a:r>
              <a:rPr lang="en-IN" dirty="0"/>
              <a:t>H. Patel and A. Shah, "Boundary-Based PWM Control Scheme for a DC-DC Buck Converter Operating in CCM," </a:t>
            </a:r>
            <a:r>
              <a:rPr lang="en-IN" i="1" dirty="0"/>
              <a:t>Trans. Energy Syst. Eng. Appl. (TESEA)</a:t>
            </a:r>
            <a:r>
              <a:rPr lang="en-IN" dirty="0"/>
              <a:t>, vol. 4, no. 1, Art. no. 504, pp. 1–17, Apr. 2023, </a:t>
            </a:r>
            <a:r>
              <a:rPr lang="en-IN" dirty="0" err="1"/>
              <a:t>doi</a:t>
            </a:r>
            <a:r>
              <a:rPr lang="en-IN" dirty="0"/>
              <a:t>: 10.32397/tesea.vol4.n1.504.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25400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C0AF6C-B669-7815-B192-749D99BAFCAE}"/>
                  </a:ext>
                </a:extLst>
              </p:cNvPr>
              <p:cNvSpPr txBox="1"/>
              <p:nvPr/>
            </p:nvSpPr>
            <p:spPr>
              <a:xfrm>
                <a:off x="644652" y="356616"/>
                <a:ext cx="10738104" cy="4678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[6] </a:t>
                </a:r>
                <a:r>
                  <a:rPr lang="en-IN" dirty="0"/>
                  <a:t>J.-B. Jeong, C.-G. Kim, J.-I. Kang, and S.-K. Han, "Two Independent Single-Loop Voltage Mode Control Method for 3-Level Buck Converter," </a:t>
                </a:r>
                <a:r>
                  <a:rPr lang="en-IN" i="1" dirty="0"/>
                  <a:t>IEEE Access</a:t>
                </a:r>
                <a:r>
                  <a:rPr lang="en-IN" dirty="0"/>
                  <a:t>, vol. 12, pp. 148113–148123, Oct. 2024, </a:t>
                </a:r>
                <a:r>
                  <a:rPr lang="en-IN" dirty="0" err="1"/>
                  <a:t>doi</a:t>
                </a:r>
                <a:r>
                  <a:rPr lang="en-IN" dirty="0"/>
                  <a:t>: 10.1109/ACCESS.2024.3476409.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[7] </a:t>
                </a:r>
                <a:r>
                  <a:rPr lang="en-IN" dirty="0"/>
                  <a:t>D. Angulo-Garcia, F. Angulo, G. Osorio, and G. Olivar, "Control of a DC-DC Buck Converter through Contraction Techniques," </a:t>
                </a:r>
                <a:r>
                  <a:rPr lang="en-IN" i="1" dirty="0"/>
                  <a:t>Energies</a:t>
                </a:r>
                <a:r>
                  <a:rPr lang="en-IN" dirty="0"/>
                  <a:t>, vol. 11, no. 11, Art. no. 3086, Nov. 2018, </a:t>
                </a:r>
                <a:r>
                  <a:rPr lang="en-IN" dirty="0" err="1"/>
                  <a:t>doi</a:t>
                </a:r>
                <a:r>
                  <a:rPr lang="en-IN" dirty="0"/>
                  <a:t>: 10.3390/en11113086.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[8] </a:t>
                </a:r>
                <a:r>
                  <a:rPr lang="en-IN" dirty="0"/>
                  <a:t>M. </a:t>
                </a:r>
                <a:r>
                  <a:rPr lang="en-IN" dirty="0" err="1"/>
                  <a:t>Gierczyński</a:t>
                </a:r>
                <a:r>
                  <a:rPr lang="en-IN" dirty="0"/>
                  <a:t>, L. M. Grzesiak, and A. </a:t>
                </a:r>
                <a:r>
                  <a:rPr lang="en-IN" dirty="0" err="1"/>
                  <a:t>Kaszewski</a:t>
                </a:r>
                <a:r>
                  <a:rPr lang="en-IN" dirty="0"/>
                  <a:t>, "Cascaded Voltage and Current Control for a Dual Active Bridge Converter with Current Filters," </a:t>
                </a:r>
                <a:r>
                  <a:rPr lang="en-IN" i="1" dirty="0"/>
                  <a:t>Energies</a:t>
                </a:r>
                <a:r>
                  <a:rPr lang="en-IN" dirty="0"/>
                  <a:t>, vol. 14, no. 19, Art. no. 6214, Sep. 2021, </a:t>
                </a:r>
                <a:r>
                  <a:rPr lang="en-IN" dirty="0" err="1"/>
                  <a:t>doi</a:t>
                </a:r>
                <a:r>
                  <a:rPr lang="en-IN" dirty="0"/>
                  <a:t>: 10.3390/en14196214.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[9] </a:t>
                </a:r>
                <a:r>
                  <a:rPr lang="en-IN" dirty="0"/>
                  <a:t>S. B. Hamed, M. B. Hamed, and L. </a:t>
                </a:r>
                <a:r>
                  <a:rPr lang="en-IN" dirty="0" err="1"/>
                  <a:t>Sbita</a:t>
                </a:r>
                <a:r>
                  <a:rPr lang="en-IN" dirty="0"/>
                  <a:t>, "Robust Voltage Control of a Buck DC-DC Converter: A Sliding Mode Approach," </a:t>
                </a:r>
                <a:r>
                  <a:rPr lang="en-IN" i="1" dirty="0"/>
                  <a:t>Energies</a:t>
                </a:r>
                <a:r>
                  <a:rPr lang="en-IN" dirty="0"/>
                  <a:t>, vol. 15, no. 17, Art. no. 6128, Aug. 2022, </a:t>
                </a:r>
                <a:r>
                  <a:rPr lang="en-IN" dirty="0" err="1"/>
                  <a:t>doi</a:t>
                </a:r>
                <a:r>
                  <a:rPr lang="en-IN" dirty="0"/>
                  <a:t>: 10.3390/en15176128.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[10] </a:t>
                </a:r>
                <a:r>
                  <a:rPr lang="en-IN" dirty="0"/>
                  <a:t>L. Xie, D. Wan, and R. Qin, "Dual-Loop Voltage–Current Control of a Fractional-Order Buck-Boost Converter Using a Fractional-Order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0" i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1600" b="0" i="0"/>
                          <m:t>PI</m:t>
                        </m:r>
                      </m:e>
                      <m:sup>
                        <m:r>
                          <a:rPr lang="en-IN" sz="1600" b="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IN" dirty="0"/>
                  <a:t> Controller," </a:t>
                </a:r>
                <a:r>
                  <a:rPr lang="en-IN" i="1" dirty="0"/>
                  <a:t>Fractal </a:t>
                </a:r>
                <a:r>
                  <a:rPr lang="en-IN" i="1" dirty="0" err="1"/>
                  <a:t>Fract</a:t>
                </a:r>
                <a:r>
                  <a:rPr lang="en-IN" i="1" dirty="0"/>
                  <a:t>.</a:t>
                </a:r>
                <a:r>
                  <a:rPr lang="en-IN" dirty="0"/>
                  <a:t>, vol. 7, no. 3, Art. no. 256, Mar. 2023, </a:t>
                </a:r>
                <a:r>
                  <a:rPr lang="en-IN" dirty="0" err="1"/>
                  <a:t>doi</a:t>
                </a:r>
                <a:r>
                  <a:rPr lang="en-IN" dirty="0"/>
                  <a:t>: 10.3390/fractalfract7030256.</a:t>
                </a:r>
                <a:endParaRPr lang="en-IN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C0AF6C-B669-7815-B192-749D99BAF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" y="356616"/>
                <a:ext cx="10738104" cy="4678204"/>
              </a:xfrm>
              <a:prstGeom prst="rect">
                <a:avLst/>
              </a:prstGeom>
              <a:blipFill>
                <a:blip r:embed="rId2"/>
                <a:stretch>
                  <a:fillRect l="-511" t="-652" b="-11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28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1424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Cascade (Dual-Loop) Voltage-Current Control of a Buck Converter</vt:lpstr>
      <vt:lpstr>Contents</vt:lpstr>
      <vt:lpstr>Introduction</vt:lpstr>
      <vt:lpstr>Literature Review</vt:lpstr>
      <vt:lpstr>PowerPoint Presentation</vt:lpstr>
      <vt:lpstr>GAP Analysis</vt:lpstr>
      <vt:lpstr>Block Diagram</vt:lpstr>
      <vt:lpstr>PowerPoint Presentation</vt:lpstr>
      <vt:lpstr>PowerPoint Presentation</vt:lpstr>
      <vt:lpstr>Objectives</vt:lpstr>
      <vt:lpstr>Work Done</vt:lpstr>
      <vt:lpstr>PowerPoint Presentation</vt:lpstr>
      <vt:lpstr>PowerPoint Presentation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Hitesh VS</dc:creator>
  <cp:lastModifiedBy>Hitesh VS</cp:lastModifiedBy>
  <cp:revision>1</cp:revision>
  <dcterms:created xsi:type="dcterms:W3CDTF">2026-08-21T17:54:02Z</dcterms:created>
  <dcterms:modified xsi:type="dcterms:W3CDTF">2026-08-27T16:03:15Z</dcterms:modified>
</cp:coreProperties>
</file>